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5" r:id="rId3"/>
    <p:sldId id="276" r:id="rId4"/>
    <p:sldId id="277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70" r:id="rId13"/>
    <p:sldId id="266" r:id="rId14"/>
    <p:sldId id="267" r:id="rId15"/>
    <p:sldId id="274" r:id="rId16"/>
    <p:sldId id="278" r:id="rId17"/>
    <p:sldId id="272" r:id="rId18"/>
    <p:sldId id="279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C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5616C-5AA2-4D16-AE7A-95C32059A546}" v="44" dt="2025-11-16T10:07:53.67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A9A-B4B0-4B32-B8CD-2E25E95134C4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21DC-8981-44E6-BC8C-2BA8F673FFBB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C5D3-0140-4E75-8D7F-C0623D06DFD7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666F9-5B40-48E0-8DFD-99EF944CDD22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8D6B-2C72-4E21-9893-A649C6E2A47D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1C9-A66C-49F0-970E-F7B68D9109A0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AE78-96A2-4A23-B183-3B6DB4374FE7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0757-B101-4811-9189-10EB2F458E2D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C078-589F-40E3-816C-EE21D62B5BBA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518A9-B687-4302-9395-2322403C665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A684-0CB7-41E9-A4DF-5D1C2CA5BF6F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7C35-9E19-4518-A4B2-3B09CD8CC75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96DA8-8897-4DDF-BFB6-5D83863C837A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A708-C5F0-412D-90E2-1919F0D196AE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F8FA-EF43-4642-9368-3F4E33039BD9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E721-B01C-4D5D-A3CA-2E5518383F10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513FEF9-69D0-4F8C-A336-59491FBEDC47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04436-CA73-4D53-89B4-2A5C7347BF2F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9568-9E8A-59AD-12B4-4322C1003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Maiandra GD" panose="020E0502030308020204" pitchFamily="34" charset="0"/>
              </a:rPr>
              <a:t>WEATHER IMPACT ON ENERGY CONSUMPTION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28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E192-1ACB-B780-86B3-6AD92F86E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080A-8E27-1BC7-955F-FFC88BCE4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Energy consumption is greatly influenced by changing weather conditions.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Understanding this relationship helps improve planning and resource efficiency.</a:t>
            </a:r>
          </a:p>
        </p:txBody>
      </p:sp>
    </p:spTree>
    <p:extLst>
      <p:ext uri="{BB962C8B-B14F-4D97-AF65-F5344CB8AC3E}">
        <p14:creationId xmlns:p14="http://schemas.microsoft.com/office/powerpoint/2010/main" val="323842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2592-0E2C-8DE8-3EB8-DD645D2A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CD2E3-4858-C09F-38A7-48404BC5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To</a:t>
            </a:r>
            <a:r>
              <a:rPr lang="en-IN" sz="2800" noProof="1">
                <a:solidFill>
                  <a:schemeClr val="bg1"/>
                </a:solidFill>
              </a:rPr>
              <a:t> analyze </a:t>
            </a:r>
            <a:r>
              <a:rPr lang="en-IN" sz="2800" dirty="0">
                <a:solidFill>
                  <a:schemeClr val="bg1"/>
                </a:solidFill>
              </a:rPr>
              <a:t>how factors like </a:t>
            </a:r>
            <a:r>
              <a:rPr lang="en-IN" sz="2800" noProof="1">
                <a:solidFill>
                  <a:schemeClr val="bg1"/>
                </a:solidFill>
              </a:rPr>
              <a:t>temperature,humidity,and </a:t>
            </a:r>
            <a:r>
              <a:rPr lang="en-IN" sz="2800" dirty="0">
                <a:solidFill>
                  <a:schemeClr val="bg1"/>
                </a:solidFill>
              </a:rPr>
              <a:t>rainfall affect daily energy use.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To visualize and model the relationship between weather and energy consumption.</a:t>
            </a:r>
          </a:p>
        </p:txBody>
      </p:sp>
    </p:spTree>
    <p:extLst>
      <p:ext uri="{BB962C8B-B14F-4D97-AF65-F5344CB8AC3E}">
        <p14:creationId xmlns:p14="http://schemas.microsoft.com/office/powerpoint/2010/main" val="266522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D856-C81C-DD40-0B71-2D3BE847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C2BF-0B17-5BD1-5C68-4A87CD881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bg1"/>
                </a:solidFill>
              </a:rPr>
              <a:t>Daily weather data : Temperature, Humidity, Rainfall, Wind speed.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Metered energy usage: Daily or Hourly readings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211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E36BD4-C615-E947-BC60-9F9FE1B165EB}"/>
              </a:ext>
            </a:extLst>
          </p:cNvPr>
          <p:cNvSpPr txBox="1"/>
          <p:nvPr/>
        </p:nvSpPr>
        <p:spPr>
          <a:xfrm>
            <a:off x="2989006" y="277450"/>
            <a:ext cx="69219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ooper Black" panose="0208090404030B020404" pitchFamily="18" charset="0"/>
              </a:rPr>
              <a:t>DATA COLLECTION 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7FA7B-C49E-AF96-49C9-C2B0488320F5}"/>
              </a:ext>
            </a:extLst>
          </p:cNvPr>
          <p:cNvSpPr txBox="1"/>
          <p:nvPr/>
        </p:nvSpPr>
        <p:spPr>
          <a:xfrm>
            <a:off x="4807975" y="190536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Data was processed and visualized using  </a:t>
            </a:r>
            <a:r>
              <a:rPr lang="en-IN" sz="2400" noProof="1">
                <a:solidFill>
                  <a:schemeClr val="bg1"/>
                </a:solidFill>
              </a:rPr>
              <a:t>sql, python(jupyter), and power bi </a:t>
            </a:r>
          </a:p>
          <a:p>
            <a:endParaRPr lang="en-IN" sz="2400" noProof="1">
              <a:solidFill>
                <a:schemeClr val="bg1"/>
              </a:solidFill>
            </a:endParaRPr>
          </a:p>
          <a:p>
            <a:endParaRPr lang="en-IN" sz="2400" noProof="1">
              <a:solidFill>
                <a:schemeClr val="bg1"/>
              </a:solidFill>
            </a:endParaRPr>
          </a:p>
          <a:p>
            <a:r>
              <a:rPr lang="en-IN" sz="2400" noProof="1">
                <a:solidFill>
                  <a:schemeClr val="bg1"/>
                </a:solidFill>
              </a:rPr>
              <a:t>We used real  meter readings and weather records for analysis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 descr="The sun shining through trees&#10;&#10;AI-generated content may be incorrect.">
            <a:extLst>
              <a:ext uri="{FF2B5EF4-FFF2-40B4-BE49-F238E27FC236}">
                <a16:creationId xmlns:a16="http://schemas.microsoft.com/office/drawing/2014/main" id="{CD2DF12A-77CE-0E0A-029E-34E36F312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1133170"/>
            <a:ext cx="4660491" cy="46604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00783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217B07-8B7D-3890-F25B-50F52D3666CE}"/>
              </a:ext>
            </a:extLst>
          </p:cNvPr>
          <p:cNvSpPr txBox="1"/>
          <p:nvPr/>
        </p:nvSpPr>
        <p:spPr>
          <a:xfrm>
            <a:off x="157316" y="89790"/>
            <a:ext cx="13253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Britannic Bold" panose="020B0903060703020204" pitchFamily="34" charset="0"/>
              </a:rPr>
              <a:t>Weather Forecast Data Captures Daily Information on Temperature, Humidity, Rainfall and Climate Variables</a:t>
            </a:r>
            <a:endParaRPr lang="en-IN" sz="36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Placeholder 4">
            <a:extLst>
              <a:ext uri="{FF2B5EF4-FFF2-40B4-BE49-F238E27FC236}">
                <a16:creationId xmlns:a16="http://schemas.microsoft.com/office/drawing/2014/main" id="{F44A58CD-66BE-F625-5E3E-964323D86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2646906"/>
              </p:ext>
            </p:extLst>
          </p:nvPr>
        </p:nvGraphicFramePr>
        <p:xfrm>
          <a:off x="943897" y="1858297"/>
          <a:ext cx="10197834" cy="428811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97280">
                  <a:extLst>
                    <a:ext uri="{9D8B030D-6E8A-4147-A177-3AD203B41FA5}">
                      <a16:colId xmlns:a16="http://schemas.microsoft.com/office/drawing/2014/main" val="1612050369"/>
                    </a:ext>
                  </a:extLst>
                </a:gridCol>
                <a:gridCol w="885311">
                  <a:extLst>
                    <a:ext uri="{9D8B030D-6E8A-4147-A177-3AD203B41FA5}">
                      <a16:colId xmlns:a16="http://schemas.microsoft.com/office/drawing/2014/main" val="1467868977"/>
                    </a:ext>
                  </a:extLst>
                </a:gridCol>
                <a:gridCol w="821502">
                  <a:extLst>
                    <a:ext uri="{9D8B030D-6E8A-4147-A177-3AD203B41FA5}">
                      <a16:colId xmlns:a16="http://schemas.microsoft.com/office/drawing/2014/main" val="2996095428"/>
                    </a:ext>
                  </a:extLst>
                </a:gridCol>
                <a:gridCol w="762116">
                  <a:extLst>
                    <a:ext uri="{9D8B030D-6E8A-4147-A177-3AD203B41FA5}">
                      <a16:colId xmlns:a16="http://schemas.microsoft.com/office/drawing/2014/main" val="763605088"/>
                    </a:ext>
                  </a:extLst>
                </a:gridCol>
                <a:gridCol w="940272">
                  <a:extLst>
                    <a:ext uri="{9D8B030D-6E8A-4147-A177-3AD203B41FA5}">
                      <a16:colId xmlns:a16="http://schemas.microsoft.com/office/drawing/2014/main" val="156503266"/>
                    </a:ext>
                  </a:extLst>
                </a:gridCol>
                <a:gridCol w="739145">
                  <a:extLst>
                    <a:ext uri="{9D8B030D-6E8A-4147-A177-3AD203B41FA5}">
                      <a16:colId xmlns:a16="http://schemas.microsoft.com/office/drawing/2014/main" val="3724594245"/>
                    </a:ext>
                  </a:extLst>
                </a:gridCol>
                <a:gridCol w="835742">
                  <a:extLst>
                    <a:ext uri="{9D8B030D-6E8A-4147-A177-3AD203B41FA5}">
                      <a16:colId xmlns:a16="http://schemas.microsoft.com/office/drawing/2014/main" val="3273941150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1211042473"/>
                    </a:ext>
                  </a:extLst>
                </a:gridCol>
                <a:gridCol w="1081231">
                  <a:extLst>
                    <a:ext uri="{9D8B030D-6E8A-4147-A177-3AD203B41FA5}">
                      <a16:colId xmlns:a16="http://schemas.microsoft.com/office/drawing/2014/main" val="1450776853"/>
                    </a:ext>
                  </a:extLst>
                </a:gridCol>
                <a:gridCol w="1257535">
                  <a:extLst>
                    <a:ext uri="{9D8B030D-6E8A-4147-A177-3AD203B41FA5}">
                      <a16:colId xmlns:a16="http://schemas.microsoft.com/office/drawing/2014/main" val="1109012714"/>
                    </a:ext>
                  </a:extLst>
                </a:gridCol>
                <a:gridCol w="40640">
                  <a:extLst>
                    <a:ext uri="{9D8B030D-6E8A-4147-A177-3AD203B41FA5}">
                      <a16:colId xmlns:a16="http://schemas.microsoft.com/office/drawing/2014/main" val="3047969547"/>
                    </a:ext>
                  </a:extLst>
                </a:gridCol>
                <a:gridCol w="1083331">
                  <a:extLst>
                    <a:ext uri="{9D8B030D-6E8A-4147-A177-3AD203B41FA5}">
                      <a16:colId xmlns:a16="http://schemas.microsoft.com/office/drawing/2014/main" val="606184339"/>
                    </a:ext>
                  </a:extLst>
                </a:gridCol>
              </a:tblGrid>
              <a:tr h="5604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 Record  ID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ForecastDate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City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TemperatureHigh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Temperature Low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Humidity Percent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noProof="1">
                          <a:solidFill>
                            <a:srgbClr val="002060"/>
                          </a:solidFill>
                          <a:effectLst/>
                        </a:rPr>
                        <a:t>WindSpeed KmH</a:t>
                      </a:r>
                      <a:endParaRPr lang="en-IN" sz="1200" b="0" i="0" u="none" strike="noStrike" noProof="1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Rainfall MM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Atmospheric Pressure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Energy  Consumption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11320840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25-10-2025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30.5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21.2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68.5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noProof="1">
                          <a:solidFill>
                            <a:srgbClr val="002060"/>
                          </a:solidFill>
                          <a:effectLst/>
                        </a:rPr>
                        <a:t>12.4</a:t>
                      </a:r>
                      <a:endParaRPr lang="en-IN" sz="1200" b="0" i="0" u="none" strike="noStrike" noProof="1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2.3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1012.5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118.7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7789004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26-10-2025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31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20.9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70.1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1.2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1013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120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6819414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27-10-2025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29.5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19.8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72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10.5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5.6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1011.2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110.4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4599279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28-10-2025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28.7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18.9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73.5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9.9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7.2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1010.8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105.6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67530256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29-10-2025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29.2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20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74.1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13.2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3.8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1012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107.8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4531496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30-10-2025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30.8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21.3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67.8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14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1012.7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122.9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39684268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31-10-2025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31.4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22.1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66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11.8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1014.2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125.1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39666772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8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01-11-2025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28.9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19.2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76.4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8.7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8.9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1010.1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102.5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0655415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02-11-2025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30.2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20.5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70.7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12.9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1011.8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115.3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5333643"/>
                  </a:ext>
                </a:extLst>
              </a:tr>
              <a:tr h="37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03-11-2025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Bangalore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29.7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21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73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15.4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 dirty="0">
                          <a:solidFill>
                            <a:srgbClr val="002060"/>
                          </a:solidFill>
                          <a:effectLst/>
                        </a:rPr>
                        <a:t>4.5</a:t>
                      </a: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1012.2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u="none" strike="noStrike">
                          <a:solidFill>
                            <a:srgbClr val="002060"/>
                          </a:solidFill>
                          <a:effectLst/>
                        </a:rPr>
                        <a:t>109.9</a:t>
                      </a:r>
                      <a:endParaRPr lang="en-IN" sz="1200" b="0" i="0" u="none" strike="noStrike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200" b="0" i="0" u="none" strike="noStrike" dirty="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7839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34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34E744-E3F0-7191-DE96-E6BC5FEBDF3B}"/>
              </a:ext>
            </a:extLst>
          </p:cNvPr>
          <p:cNvSpPr txBox="1"/>
          <p:nvPr/>
        </p:nvSpPr>
        <p:spPr>
          <a:xfrm>
            <a:off x="255639" y="104812"/>
            <a:ext cx="122608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Britannic Bold" panose="020B0903060703020204" pitchFamily="34" charset="0"/>
              </a:rPr>
              <a:t>Weather Forecast and Energy Consumption Table 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A5FA4-C6B1-D837-7E75-C9BEA96477E6}"/>
              </a:ext>
            </a:extLst>
          </p:cNvPr>
          <p:cNvSpPr txBox="1"/>
          <p:nvPr/>
        </p:nvSpPr>
        <p:spPr>
          <a:xfrm>
            <a:off x="1160207" y="1120877"/>
            <a:ext cx="915383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b="0" i="0" dirty="0">
                <a:effectLst/>
                <a:latin typeface="menlo"/>
              </a:rPr>
              <a:t> </a:t>
            </a: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Record ID Forecast Date       City  Temperature High  Temperature Low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0         1   2025-10-25  Bangalore             30.5            21.2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1         2   2025-10-26  Bangalore             31.0            20.9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2         3   2025-10-27  Bangalore             29.5            19.8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3         4   2025-10-28  Bangalore             28.7            18.9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4         5   2025-10-29  Bangalore             29.2            20.0   </a:t>
            </a:r>
          </a:p>
          <a:p>
            <a:pPr algn="l" latinLnBrk="1">
              <a:buNone/>
            </a:pPr>
            <a:endParaRPr lang="en-IN" b="0" i="0" noProof="0" dirty="0">
              <a:solidFill>
                <a:schemeClr val="bg1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   Humidity Percent  Wind Speed Km H  Rainfall MM  Atmospheric Pressure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0             68.5          12.4         2.3               1012.5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1             70.1          15.0         1.2               1013.0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2             72.0          10.5         5.6               1011.2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3             73.5           9.9         7.2               1010.8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4             74.1          13.2         3.8               1012.0 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   Energy Consumption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0              118.7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1              120.0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2              110.4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3              105.6  </a:t>
            </a:r>
          </a:p>
          <a:p>
            <a:pPr algn="l" latinLnBrk="1">
              <a:buNone/>
            </a:pPr>
            <a:r>
              <a:rPr lang="en-IN" b="0" i="0" noProof="0" dirty="0">
                <a:solidFill>
                  <a:schemeClr val="bg1"/>
                </a:solidFill>
                <a:effectLst/>
                <a:latin typeface="menlo"/>
              </a:rPr>
              <a:t>4              107.8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25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37C23D-5400-6D6D-A075-179CE44F64A9}"/>
              </a:ext>
            </a:extLst>
          </p:cNvPr>
          <p:cNvSpPr txBox="1"/>
          <p:nvPr/>
        </p:nvSpPr>
        <p:spPr>
          <a:xfrm>
            <a:off x="1258529" y="2223046"/>
            <a:ext cx="787563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buNone/>
            </a:pPr>
            <a:r>
              <a:rPr lang="en-IN" b="0" i="0" dirty="0">
                <a:effectLst/>
                <a:latin typeface="menlo"/>
              </a:rPr>
              <a:t> </a:t>
            </a: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0   Record ID                           10 non-null     int64  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1   Forecast Date                    10 non-null     datetime64[ns]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2   City                                     10 non-null     object 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3   Temperature High            10 non-null     float64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4   Temperature Low             10 non-null     float64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5   Humidity Percent             10 non-null     float64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6   Wind Speed Km H            10 non-null     float64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7   Rainfall MM                      </a:t>
            </a:r>
            <a:r>
              <a:rPr lang="en-IN" dirty="0">
                <a:solidFill>
                  <a:schemeClr val="bg1"/>
                </a:solidFill>
                <a:latin typeface="menlo"/>
              </a:rPr>
              <a:t> </a:t>
            </a: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10 non-null     float64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8   Atmospheric Pressure      10 non-null     float64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9   Energy Consumption        10 non-null     float64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 10  Day Type                            10 non-null     object        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D types: datetime64[ns](1), float64(7), int64(1), object(2)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memory usage: 1012.0+ bytes</a:t>
            </a:r>
          </a:p>
          <a:p>
            <a:pPr latinLnBrk="1">
              <a:buNone/>
            </a:pPr>
            <a:r>
              <a:rPr lang="en-IN" b="0" i="0" dirty="0">
                <a:solidFill>
                  <a:schemeClr val="bg1"/>
                </a:solidFill>
                <a:effectLst/>
                <a:latin typeface="menlo"/>
              </a:rPr>
              <a:t>None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A48339-B308-76F9-84E5-4912005D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CONSUMPTION</a:t>
            </a:r>
          </a:p>
        </p:txBody>
      </p:sp>
    </p:spTree>
    <p:extLst>
      <p:ext uri="{BB962C8B-B14F-4D97-AF65-F5344CB8AC3E}">
        <p14:creationId xmlns:p14="http://schemas.microsoft.com/office/powerpoint/2010/main" val="2996432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61839B-A802-9FFE-5E61-9117313E7411}"/>
              </a:ext>
            </a:extLst>
          </p:cNvPr>
          <p:cNvSpPr txBox="1"/>
          <p:nvPr/>
        </p:nvSpPr>
        <p:spPr>
          <a:xfrm>
            <a:off x="1288026" y="297115"/>
            <a:ext cx="80427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Cooper Black" panose="0208090404030B020404" pitchFamily="18" charset="0"/>
              </a:rPr>
              <a:t>VISUAL DESCRIPTIONS 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FEE38-5968-7A71-5CA4-E0E867EBCD7C}"/>
              </a:ext>
            </a:extLst>
          </p:cNvPr>
          <p:cNvSpPr txBox="1"/>
          <p:nvPr/>
        </p:nvSpPr>
        <p:spPr>
          <a:xfrm>
            <a:off x="1602658" y="1651423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LINE CHART</a:t>
            </a:r>
          </a:p>
          <a:p>
            <a:r>
              <a:rPr lang="en-IN" sz="3200" dirty="0">
                <a:solidFill>
                  <a:schemeClr val="bg1"/>
                </a:solidFill>
              </a:rPr>
              <a:t>BAR  CHART</a:t>
            </a:r>
          </a:p>
          <a:p>
            <a:r>
              <a:rPr lang="en-IN" sz="3200" dirty="0">
                <a:solidFill>
                  <a:schemeClr val="bg1"/>
                </a:solidFill>
              </a:rPr>
              <a:t>SCATTER PLOT </a:t>
            </a:r>
          </a:p>
          <a:p>
            <a:r>
              <a:rPr lang="en-IN" sz="3200" dirty="0">
                <a:solidFill>
                  <a:schemeClr val="bg1"/>
                </a:solidFill>
              </a:rPr>
              <a:t>CORRELATION </a:t>
            </a: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B1FB5EF5-BBEB-D1C8-811C-923224E9D5BA}"/>
              </a:ext>
            </a:extLst>
          </p:cNvPr>
          <p:cNvSpPr/>
          <p:nvPr/>
        </p:nvSpPr>
        <p:spPr>
          <a:xfrm>
            <a:off x="1130710" y="1877961"/>
            <a:ext cx="344129" cy="314633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BC338140-CEDF-9805-B2FD-C7427EA4E380}"/>
              </a:ext>
            </a:extLst>
          </p:cNvPr>
          <p:cNvSpPr/>
          <p:nvPr/>
        </p:nvSpPr>
        <p:spPr>
          <a:xfrm>
            <a:off x="1130709" y="2750921"/>
            <a:ext cx="344129" cy="314633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A9CE514-350C-6CBF-0479-9161B551AF7D}"/>
              </a:ext>
            </a:extLst>
          </p:cNvPr>
          <p:cNvSpPr/>
          <p:nvPr/>
        </p:nvSpPr>
        <p:spPr>
          <a:xfrm>
            <a:off x="1130709" y="3217954"/>
            <a:ext cx="344129" cy="314633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3EBDD5D2-625C-F821-9A00-68F8F1FCC5B1}"/>
              </a:ext>
            </a:extLst>
          </p:cNvPr>
          <p:cNvSpPr/>
          <p:nvPr/>
        </p:nvSpPr>
        <p:spPr>
          <a:xfrm>
            <a:off x="1140543" y="2344994"/>
            <a:ext cx="344129" cy="314633"/>
          </a:xfrm>
          <a:prstGeom prst="star5">
            <a:avLst>
              <a:gd name="adj" fmla="val 16271"/>
              <a:gd name="hf" fmla="val 105146"/>
              <a:gd name="vf" fmla="val 11055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8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6B33BA-AF2E-003B-45BD-6372C7B3D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6" t="6384" r="3555" b="1"/>
          <a:stretch>
            <a:fillRect/>
          </a:stretch>
        </p:blipFill>
        <p:spPr>
          <a:xfrm>
            <a:off x="931323" y="1220444"/>
            <a:ext cx="9851923" cy="48718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6EBA58-884A-5857-5CA8-32C91E3E44A8}"/>
              </a:ext>
            </a:extLst>
          </p:cNvPr>
          <p:cNvSpPr txBox="1"/>
          <p:nvPr/>
        </p:nvSpPr>
        <p:spPr>
          <a:xfrm>
            <a:off x="2809285" y="29711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Cooper Black" panose="0208090404030B020404" pitchFamily="18" charset="0"/>
              </a:rPr>
              <a:t>LINE CHART </a:t>
            </a:r>
            <a:endParaRPr lang="en-IN" sz="5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86F10-0A19-7D91-E009-AA800F99D053}"/>
              </a:ext>
            </a:extLst>
          </p:cNvPr>
          <p:cNvSpPr txBox="1"/>
          <p:nvPr/>
        </p:nvSpPr>
        <p:spPr>
          <a:xfrm>
            <a:off x="2890684" y="628496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DATES OF ENERGY CONSUMPTION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4FE8A-9CD1-38BA-7A90-238656445A41}"/>
              </a:ext>
            </a:extLst>
          </p:cNvPr>
          <p:cNvSpPr txBox="1"/>
          <p:nvPr/>
        </p:nvSpPr>
        <p:spPr>
          <a:xfrm rot="16200000">
            <a:off x="-1532873" y="3228945"/>
            <a:ext cx="3549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DAILY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A6E96B-7571-503E-BCA2-899A0D98DD0E}"/>
              </a:ext>
            </a:extLst>
          </p:cNvPr>
          <p:cNvSpPr txBox="1"/>
          <p:nvPr/>
        </p:nvSpPr>
        <p:spPr>
          <a:xfrm>
            <a:off x="346594" y="1284945"/>
            <a:ext cx="695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105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376882-3BC6-3A9B-03DD-0514C0CB037B}"/>
              </a:ext>
            </a:extLst>
          </p:cNvPr>
          <p:cNvSpPr txBox="1"/>
          <p:nvPr/>
        </p:nvSpPr>
        <p:spPr>
          <a:xfrm>
            <a:off x="346594" y="4446328"/>
            <a:ext cx="550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125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2B7D5-85F4-8D9E-E159-33A2653DF84A}"/>
              </a:ext>
            </a:extLst>
          </p:cNvPr>
          <p:cNvSpPr txBox="1"/>
          <p:nvPr/>
        </p:nvSpPr>
        <p:spPr>
          <a:xfrm>
            <a:off x="359837" y="3634262"/>
            <a:ext cx="619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120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731273-598F-6DBE-0B66-B309CF1C4060}"/>
              </a:ext>
            </a:extLst>
          </p:cNvPr>
          <p:cNvSpPr txBox="1"/>
          <p:nvPr/>
        </p:nvSpPr>
        <p:spPr>
          <a:xfrm>
            <a:off x="409132" y="2854406"/>
            <a:ext cx="570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115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C2A797-CA21-49CB-862A-83069BCC3A77}"/>
              </a:ext>
            </a:extLst>
          </p:cNvPr>
          <p:cNvSpPr txBox="1"/>
          <p:nvPr/>
        </p:nvSpPr>
        <p:spPr>
          <a:xfrm>
            <a:off x="361052" y="2115742"/>
            <a:ext cx="570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696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showing the amount of energy consumption">
            <a:extLst>
              <a:ext uri="{FF2B5EF4-FFF2-40B4-BE49-F238E27FC236}">
                <a16:creationId xmlns:a16="http://schemas.microsoft.com/office/drawing/2014/main" id="{6E0C7D3B-C89B-88E5-95AD-54B17E7D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0" t="7571" r="6159" b="4739"/>
          <a:stretch>
            <a:fillRect/>
          </a:stretch>
        </p:blipFill>
        <p:spPr>
          <a:xfrm>
            <a:off x="1494503" y="1622323"/>
            <a:ext cx="9576619" cy="4562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F5DD2B-8E4E-C9ED-498A-9CA970927D34}"/>
              </a:ext>
            </a:extLst>
          </p:cNvPr>
          <p:cNvSpPr txBox="1"/>
          <p:nvPr/>
        </p:nvSpPr>
        <p:spPr>
          <a:xfrm>
            <a:off x="2787444" y="769062"/>
            <a:ext cx="6990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DAILY ENERGY CONSUMPTION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3E09E-0392-11F6-0C43-E8E43452EF74}"/>
              </a:ext>
            </a:extLst>
          </p:cNvPr>
          <p:cNvSpPr txBox="1"/>
          <p:nvPr/>
        </p:nvSpPr>
        <p:spPr>
          <a:xfrm rot="16200000">
            <a:off x="-1030787" y="3320647"/>
            <a:ext cx="3919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NUMBER OF DAYS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9B3A1-3B2E-126E-1965-AEC67FCAD582}"/>
              </a:ext>
            </a:extLst>
          </p:cNvPr>
          <p:cNvSpPr txBox="1"/>
          <p:nvPr/>
        </p:nvSpPr>
        <p:spPr>
          <a:xfrm>
            <a:off x="4031226" y="63713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DAILY CONSUMPTION</a:t>
            </a:r>
          </a:p>
        </p:txBody>
      </p:sp>
    </p:spTree>
    <p:extLst>
      <p:ext uri="{BB962C8B-B14F-4D97-AF65-F5344CB8AC3E}">
        <p14:creationId xmlns:p14="http://schemas.microsoft.com/office/powerpoint/2010/main" val="2202110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3E77C5C6-2082-2CA3-7999-0DE92BA52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6" t="11639" r="19405" b="4282"/>
          <a:stretch>
            <a:fillRect/>
          </a:stretch>
        </p:blipFill>
        <p:spPr>
          <a:xfrm>
            <a:off x="1691149" y="2182761"/>
            <a:ext cx="7954297" cy="42475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37AA4-75B1-2A67-A016-580350FD54E8}"/>
              </a:ext>
            </a:extLst>
          </p:cNvPr>
          <p:cNvSpPr txBox="1"/>
          <p:nvPr/>
        </p:nvSpPr>
        <p:spPr>
          <a:xfrm>
            <a:off x="1951704" y="1093528"/>
            <a:ext cx="91390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WEEKEND VS WEEKDAYS   CONSUMPTION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8C623-E668-7A74-F3EB-9ED7CCC657F5}"/>
              </a:ext>
            </a:extLst>
          </p:cNvPr>
          <p:cNvSpPr txBox="1"/>
          <p:nvPr/>
        </p:nvSpPr>
        <p:spPr>
          <a:xfrm>
            <a:off x="5132438" y="64302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DAY 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00045-6FB3-3CD6-69F1-0871B96140B6}"/>
              </a:ext>
            </a:extLst>
          </p:cNvPr>
          <p:cNvSpPr txBox="1"/>
          <p:nvPr/>
        </p:nvSpPr>
        <p:spPr>
          <a:xfrm rot="16200000">
            <a:off x="-383459" y="3841400"/>
            <a:ext cx="3313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3588198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showing the temperature and energy consumption&#10;&#10;AI-generated content may be incorrect.">
            <a:extLst>
              <a:ext uri="{FF2B5EF4-FFF2-40B4-BE49-F238E27FC236}">
                <a16:creationId xmlns:a16="http://schemas.microsoft.com/office/drawing/2014/main" id="{D149F3DF-4C90-B78E-F072-A94B1F432E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97857" y="1425089"/>
            <a:ext cx="9370142" cy="5330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457F52-C944-1C95-E5EF-98C1F31D71D8}"/>
              </a:ext>
            </a:extLst>
          </p:cNvPr>
          <p:cNvSpPr txBox="1"/>
          <p:nvPr/>
        </p:nvSpPr>
        <p:spPr>
          <a:xfrm>
            <a:off x="4031225" y="5232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Britannic Bold" panose="020B0903060703020204" pitchFamily="34" charset="0"/>
              </a:rPr>
              <a:t>SCATTER PLOT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851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and blue squares with white text&#10;&#10;AI-generated content may be incorrect.">
            <a:extLst>
              <a:ext uri="{FF2B5EF4-FFF2-40B4-BE49-F238E27FC236}">
                <a16:creationId xmlns:a16="http://schemas.microsoft.com/office/drawing/2014/main" id="{740AA5E5-430D-7279-8661-85AF45EC558E}"/>
              </a:ext>
            </a:extLst>
          </p:cNvPr>
          <p:cNvPicPr/>
          <p:nvPr/>
        </p:nvPicPr>
        <p:blipFill>
          <a:blip r:embed="rId2"/>
          <a:srcRect l="19208" t="4045" r="23259" b="23879"/>
          <a:stretch>
            <a:fillRect/>
          </a:stretch>
        </p:blipFill>
        <p:spPr>
          <a:xfrm>
            <a:off x="3009771" y="1066178"/>
            <a:ext cx="4424516" cy="4021393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rgbClr val="00B0F0"/>
            </a:solidFill>
          </a:ln>
        </p:spPr>
      </p:pic>
      <p:pic>
        <p:nvPicPr>
          <p:cNvPr id="3" name="Picture 2" descr="A red and blue squares with white text&#10;&#10;AI-generated content may be incorrect.">
            <a:extLst>
              <a:ext uri="{FF2B5EF4-FFF2-40B4-BE49-F238E27FC236}">
                <a16:creationId xmlns:a16="http://schemas.microsoft.com/office/drawing/2014/main" id="{0AD09066-5D56-236C-63E0-5BEE55FB394C}"/>
              </a:ext>
            </a:extLst>
          </p:cNvPr>
          <p:cNvPicPr/>
          <p:nvPr/>
        </p:nvPicPr>
        <p:blipFill>
          <a:blip r:embed="rId2"/>
          <a:srcRect l="80225" t="1" r="10817" b="23479"/>
          <a:stretch>
            <a:fillRect/>
          </a:stretch>
        </p:blipFill>
        <p:spPr>
          <a:xfrm>
            <a:off x="8068943" y="1066178"/>
            <a:ext cx="648929" cy="4021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BF27E4-88D4-68FB-D776-2DFD484059E0}"/>
              </a:ext>
            </a:extLst>
          </p:cNvPr>
          <p:cNvSpPr txBox="1"/>
          <p:nvPr/>
        </p:nvSpPr>
        <p:spPr>
          <a:xfrm>
            <a:off x="1209367" y="1326110"/>
            <a:ext cx="1927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1"/>
              <a:t>TempertureHigh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3AD198-3D7D-FCB7-563C-429868B74E67}"/>
              </a:ext>
            </a:extLst>
          </p:cNvPr>
          <p:cNvSpPr txBox="1"/>
          <p:nvPr/>
        </p:nvSpPr>
        <p:spPr>
          <a:xfrm>
            <a:off x="1209367" y="22889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1"/>
              <a:t>TempertureLow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2B754F-CA54-FFC8-47E6-84A66E3FDFA7}"/>
              </a:ext>
            </a:extLst>
          </p:cNvPr>
          <p:cNvSpPr txBox="1"/>
          <p:nvPr/>
        </p:nvSpPr>
        <p:spPr>
          <a:xfrm rot="16200000">
            <a:off x="3608724" y="5646483"/>
            <a:ext cx="1928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1"/>
              <a:t>TempertureLow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E9163-A4C6-4D17-F463-8AA8086197D1}"/>
              </a:ext>
            </a:extLst>
          </p:cNvPr>
          <p:cNvSpPr txBox="1"/>
          <p:nvPr/>
        </p:nvSpPr>
        <p:spPr>
          <a:xfrm rot="16200000">
            <a:off x="2550849" y="5709772"/>
            <a:ext cx="1927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1"/>
              <a:t>TempertureHigh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107197-92FE-34C2-632E-1EDD2459B00B}"/>
              </a:ext>
            </a:extLst>
          </p:cNvPr>
          <p:cNvSpPr txBox="1"/>
          <p:nvPr/>
        </p:nvSpPr>
        <p:spPr>
          <a:xfrm>
            <a:off x="1091380" y="3393236"/>
            <a:ext cx="204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1"/>
              <a:t>Humidity percent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0A2BF3-5983-3C51-18A2-B3B934AFD576}"/>
              </a:ext>
            </a:extLst>
          </p:cNvPr>
          <p:cNvSpPr txBox="1"/>
          <p:nvPr/>
        </p:nvSpPr>
        <p:spPr>
          <a:xfrm rot="16200000">
            <a:off x="4878947" y="5756857"/>
            <a:ext cx="204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1"/>
              <a:t>Humidity percent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EE3963-DB81-5662-9BC1-50C519B8444F}"/>
              </a:ext>
            </a:extLst>
          </p:cNvPr>
          <p:cNvSpPr txBox="1"/>
          <p:nvPr/>
        </p:nvSpPr>
        <p:spPr>
          <a:xfrm>
            <a:off x="865238" y="4356106"/>
            <a:ext cx="2271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1"/>
              <a:t>EnergyConsumption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B1579-2A48-6B55-C8B3-FA428BA7B2AC}"/>
              </a:ext>
            </a:extLst>
          </p:cNvPr>
          <p:cNvSpPr txBox="1"/>
          <p:nvPr/>
        </p:nvSpPr>
        <p:spPr>
          <a:xfrm rot="16200000">
            <a:off x="5581956" y="5817784"/>
            <a:ext cx="2271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1"/>
              <a:t>EnergyConsumption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B25139-CCC1-5233-A272-88FD52DBF64E}"/>
              </a:ext>
            </a:extLst>
          </p:cNvPr>
          <p:cNvSpPr txBox="1"/>
          <p:nvPr/>
        </p:nvSpPr>
        <p:spPr>
          <a:xfrm>
            <a:off x="3699077" y="80468"/>
            <a:ext cx="32031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noProof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HEAT MAP </a:t>
            </a:r>
            <a:endParaRPr lang="en-IN" sz="4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3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with blue dots&#10;&#10;AI-generated content may be incorrect.">
            <a:extLst>
              <a:ext uri="{FF2B5EF4-FFF2-40B4-BE49-F238E27FC236}">
                <a16:creationId xmlns:a16="http://schemas.microsoft.com/office/drawing/2014/main" id="{7A603892-6914-C51D-262D-FE21FDDCEC3D}"/>
              </a:ext>
            </a:extLst>
          </p:cNvPr>
          <p:cNvPicPr/>
          <p:nvPr/>
        </p:nvPicPr>
        <p:blipFill>
          <a:blip r:embed="rId2"/>
          <a:srcRect l="4341" t="4779" r="599" b="4015"/>
          <a:stretch>
            <a:fillRect/>
          </a:stretch>
        </p:blipFill>
        <p:spPr>
          <a:xfrm>
            <a:off x="2556387" y="1474839"/>
            <a:ext cx="6243484" cy="468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453D80-1AC7-ADCB-5D97-685097AE64C0}"/>
              </a:ext>
            </a:extLst>
          </p:cNvPr>
          <p:cNvSpPr txBox="1"/>
          <p:nvPr/>
        </p:nvSpPr>
        <p:spPr>
          <a:xfrm rot="16200000">
            <a:off x="501446" y="3228944"/>
            <a:ext cx="3116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ENERGY CONSUMPTION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EED4F-E1ED-C2CC-48F6-EA902F4BF616}"/>
              </a:ext>
            </a:extLst>
          </p:cNvPr>
          <p:cNvSpPr txBox="1"/>
          <p:nvPr/>
        </p:nvSpPr>
        <p:spPr>
          <a:xfrm>
            <a:off x="3574026" y="62947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TEMPERATURE  HIGH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759B2-992B-7221-4F66-339D8750A68E}"/>
              </a:ext>
            </a:extLst>
          </p:cNvPr>
          <p:cNvSpPr txBox="1"/>
          <p:nvPr/>
        </p:nvSpPr>
        <p:spPr>
          <a:xfrm>
            <a:off x="2930013" y="69317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TEMPERATURE   VS    ENERGY</a:t>
            </a:r>
          </a:p>
        </p:txBody>
      </p:sp>
    </p:spTree>
    <p:extLst>
      <p:ext uri="{BB962C8B-B14F-4D97-AF65-F5344CB8AC3E}">
        <p14:creationId xmlns:p14="http://schemas.microsoft.com/office/powerpoint/2010/main" val="2608487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B675-FD1B-E0B2-0DC8-A6FF5624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AND INTERPRETATION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7F33E-6AB1-D94C-2386-70C19394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There is clear, positive correlation between hot weather and higher energy usage.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Energy use patterns change on weekends versus weekdays, during different weather events </a:t>
            </a:r>
          </a:p>
        </p:txBody>
      </p:sp>
    </p:spTree>
    <p:extLst>
      <p:ext uri="{BB962C8B-B14F-4D97-AF65-F5344CB8AC3E}">
        <p14:creationId xmlns:p14="http://schemas.microsoft.com/office/powerpoint/2010/main" val="1710416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7CAE70-2091-DF49-E991-185C9E867B47}"/>
              </a:ext>
            </a:extLst>
          </p:cNvPr>
          <p:cNvSpPr txBox="1"/>
          <p:nvPr/>
        </p:nvSpPr>
        <p:spPr>
          <a:xfrm>
            <a:off x="1415845" y="1168812"/>
            <a:ext cx="920299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4000" dirty="0">
                <a:solidFill>
                  <a:schemeClr val="bg1"/>
                </a:solidFill>
                <a:latin typeface="Cooper Black" panose="0208090404030B0204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This project demonstrates how weather factors can significantly impact daily energy use. </a:t>
            </a:r>
            <a:br>
              <a:rPr lang="en-IN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By combing SQL, PYTHON and POWER BI, we have uncovered meaningful patterns and trends in data.</a:t>
            </a:r>
            <a:br>
              <a:rPr lang="en-IN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These insights can help optimize energy planning and support data-driven  decision making in the future</a:t>
            </a:r>
            <a:r>
              <a:rPr lang="en-IN" sz="2800" dirty="0">
                <a:latin typeface="Baskerville Old Face" panose="02020602080505020303" pitchFamily="18" charset="0"/>
              </a:rPr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20967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3CAA-3AEF-9D2C-B9E1-9AD52A4C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F8648-C7EE-58DA-1F44-094E5AC4B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Weather factors have a direct and measurable effect on energy consumption.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Insights from this analysis can help optimize energy distribution and reduce waste.</a:t>
            </a:r>
          </a:p>
        </p:txBody>
      </p:sp>
    </p:spTree>
    <p:extLst>
      <p:ext uri="{BB962C8B-B14F-4D97-AF65-F5344CB8AC3E}">
        <p14:creationId xmlns:p14="http://schemas.microsoft.com/office/powerpoint/2010/main" val="1132866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9D6B08-0BD1-E874-21B1-2979C92B1A11}"/>
              </a:ext>
            </a:extLst>
          </p:cNvPr>
          <p:cNvSpPr txBox="1"/>
          <p:nvPr/>
        </p:nvSpPr>
        <p:spPr>
          <a:xfrm>
            <a:off x="1956619" y="1073863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Wide Latin" panose="020A0A07050505020404" pitchFamily="18" charset="0"/>
              </a:rPr>
              <a:t>THANK YOU </a:t>
            </a:r>
          </a:p>
          <a:p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B97F6-8EA0-5742-2C3B-1B173636FF0D}"/>
              </a:ext>
            </a:extLst>
          </p:cNvPr>
          <p:cNvSpPr txBox="1"/>
          <p:nvPr/>
        </p:nvSpPr>
        <p:spPr>
          <a:xfrm>
            <a:off x="5860025" y="5220533"/>
            <a:ext cx="644012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PRESENTation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by :  </a:t>
            </a:r>
            <a:r>
              <a:rPr lang="en-US" sz="2400" dirty="0">
                <a:solidFill>
                  <a:schemeClr val="bg1"/>
                </a:solidFill>
                <a:latin typeface="Calisto MT" panose="02040603050505030304" pitchFamily="18" charset="0"/>
              </a:rPr>
              <a:t>Kavana S , Amrutha </a:t>
            </a:r>
            <a:r>
              <a:rPr lang="en-IN" sz="2400" dirty="0">
                <a:solidFill>
                  <a:schemeClr val="bg1"/>
                </a:solidFill>
                <a:latin typeface="Calisto MT" panose="02040603050505030304" pitchFamily="18" charset="0"/>
              </a:rPr>
              <a:t>T</a:t>
            </a:r>
            <a:r>
              <a:rPr lang="en-IN" sz="2400" noProof="0" dirty="0">
                <a:solidFill>
                  <a:schemeClr val="bg1"/>
                </a:solidFill>
                <a:latin typeface="Calisto MT" panose="020406030505050303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Calisto MT" panose="02040603050505030304" pitchFamily="18" charset="0"/>
              </a:rPr>
              <a:t>N </a:t>
            </a:r>
          </a:p>
          <a:p>
            <a:endParaRPr lang="en-US" dirty="0">
              <a:latin typeface="Calisto MT" panose="0204060305050503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Eras Bold ITC" panose="020B0907030504020204" pitchFamily="34" charset="0"/>
              </a:rPr>
              <a:t>Government first grade college </a:t>
            </a:r>
          </a:p>
          <a:p>
            <a:r>
              <a:rPr lang="en-US" dirty="0">
                <a:solidFill>
                  <a:schemeClr val="bg1"/>
                </a:solidFill>
                <a:latin typeface="Eras Bold ITC" panose="020B0907030504020204" pitchFamily="34" charset="0"/>
              </a:rPr>
              <a:t>Yelahanka </a:t>
            </a:r>
            <a:r>
              <a:rPr lang="en-US" noProof="1">
                <a:solidFill>
                  <a:schemeClr val="bg1"/>
                </a:solidFill>
                <a:latin typeface="Eras Bold ITC" panose="020B0907030504020204" pitchFamily="34" charset="0"/>
              </a:rPr>
              <a:t> nes  Bangalore </a:t>
            </a:r>
            <a:endParaRPr lang="en-US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86926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129</TotalTime>
  <Words>629</Words>
  <Application>Microsoft Office PowerPoint</Application>
  <PresentationFormat>Widescreen</PresentationFormat>
  <Paragraphs>212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Aptos Narrow</vt:lpstr>
      <vt:lpstr>Arial</vt:lpstr>
      <vt:lpstr>Arial Rounded MT Bold</vt:lpstr>
      <vt:lpstr>Bahnschrift SemiBold SemiConden</vt:lpstr>
      <vt:lpstr>Baskerville Old Face</vt:lpstr>
      <vt:lpstr>Britannic Bold</vt:lpstr>
      <vt:lpstr>Calisto MT</vt:lpstr>
      <vt:lpstr>Cooper Black</vt:lpstr>
      <vt:lpstr>Eras Bold ITC</vt:lpstr>
      <vt:lpstr>Maiandra GD</vt:lpstr>
      <vt:lpstr>menlo</vt:lpstr>
      <vt:lpstr>Trebuchet MS</vt:lpstr>
      <vt:lpstr>Wide Latin</vt:lpstr>
      <vt:lpstr>Berlin</vt:lpstr>
      <vt:lpstr>WEATHER IMPACT ON ENERGY CONSUMPTION</vt:lpstr>
      <vt:lpstr>Introduction </vt:lpstr>
      <vt:lpstr>OBJECTIVE </vt:lpstr>
      <vt:lpstr>DATA COLLECTION </vt:lpstr>
      <vt:lpstr>PowerPoint Presentation</vt:lpstr>
      <vt:lpstr>PowerPoint Presentation</vt:lpstr>
      <vt:lpstr>PowerPoint Presentation</vt:lpstr>
      <vt:lpstr>DATA CONSUMPTION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 AND INTERPRETATION </vt:lpstr>
      <vt:lpstr>PowerPoint Presentation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Kavana S</dc:creator>
  <cp:lastModifiedBy>Kavana S</cp:lastModifiedBy>
  <cp:revision>2</cp:revision>
  <dcterms:created xsi:type="dcterms:W3CDTF">2025-11-14T14:32:41Z</dcterms:created>
  <dcterms:modified xsi:type="dcterms:W3CDTF">2025-11-16T12:54:33Z</dcterms:modified>
</cp:coreProperties>
</file>